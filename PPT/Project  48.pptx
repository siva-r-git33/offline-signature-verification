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4" r:id="rId1"/>
  </p:sldMasterIdLst>
  <p:notesMasterIdLst>
    <p:notesMasterId r:id="rId18"/>
  </p:notesMasterIdLst>
  <p:sldIdLst>
    <p:sldId id="256" r:id="rId2"/>
    <p:sldId id="258" r:id="rId3"/>
    <p:sldId id="268" r:id="rId4"/>
    <p:sldId id="272" r:id="rId5"/>
    <p:sldId id="273" r:id="rId6"/>
    <p:sldId id="274" r:id="rId7"/>
    <p:sldId id="271" r:id="rId8"/>
    <p:sldId id="259" r:id="rId9"/>
    <p:sldId id="260" r:id="rId10"/>
    <p:sldId id="261" r:id="rId11"/>
    <p:sldId id="262" r:id="rId12"/>
    <p:sldId id="263" r:id="rId13"/>
    <p:sldId id="265" r:id="rId14"/>
    <p:sldId id="270" r:id="rId15"/>
    <p:sldId id="266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C3ECE1-9E7D-47DA-9DF1-CBC65AB924B6}" type="datetimeFigureOut">
              <a:rPr lang="en-US" smtClean="0"/>
              <a:t>2/27/2024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82C17-9B40-4DBA-B058-2925A71DB6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45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082C17-9B40-4DBA-B058-2925A71DB61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858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599D-BF21-4806-BE2A-B08025C3925B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27BC-868C-46D6-8925-65D23F13A29D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676FD-642C-43F1-99F0-E459C7A534A6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3FA7-3F3C-4708-B08C-2ECEB3243BDF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C67FC-F376-4C3F-A85E-CB226F53379A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896-DFEE-412C-9213-B41F164799C6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5F88-F3C3-4D93-B727-966E27595754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D0CF-8992-483D-AB09-8B55CB88F57D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8C68-83F7-4E83-8908-7784A0BBE3A6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4F35-D7E4-49D9-8260-80F2549E9F6B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613FE-8ECB-493D-A73E-0661E88D8BFA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FC3637C-6E24-4E0E-8FC8-75647A3AC0F5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259F384-DA6A-4C50-AB09-618569CD2DA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 /><Relationship Id="rId2" Type="http://schemas.openxmlformats.org/officeDocument/2006/relationships/hyperlink" Target="https://www.researchgate.net/" TargetMode="Externa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066800"/>
            <a:ext cx="8229600" cy="1219200"/>
          </a:xfrm>
        </p:spPr>
        <p:txBody>
          <a:bodyPr>
            <a:noAutofit/>
          </a:bodyPr>
          <a:lstStyle/>
          <a:p>
            <a:pPr algn="ctr"/>
            <a:r>
              <a:rPr lang="en-US" sz="3500" dirty="0">
                <a:latin typeface="Times New Roman" pitchFamily="18" charset="0"/>
                <a:cs typeface="Times New Roman" pitchFamily="18" charset="0"/>
              </a:rPr>
              <a:t>Title : Offline Signature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0" y="4724400"/>
            <a:ext cx="3810000" cy="2133600"/>
          </a:xfrm>
        </p:spPr>
        <p:txBody>
          <a:bodyPr>
            <a:normAutofit/>
          </a:bodyPr>
          <a:lstStyle/>
          <a:p>
            <a:pPr algn="l"/>
            <a:r>
              <a:rPr lang="en-US" sz="1500" dirty="0">
                <a:effectLst/>
              </a:rPr>
              <a:t>21CGU048</a:t>
            </a:r>
          </a:p>
          <a:p>
            <a:pPr algn="l"/>
            <a:r>
              <a:rPr lang="en-US" sz="1500" dirty="0"/>
              <a:t>SIVA.R – III YEAR</a:t>
            </a:r>
          </a:p>
          <a:p>
            <a:pPr algn="l"/>
            <a:r>
              <a:rPr lang="en-US" sz="1500" dirty="0">
                <a:cs typeface="Times New Roman" panose="02020603050405020304" pitchFamily="18" charset="0"/>
              </a:rPr>
              <a:t>DEPARTMENT OF BSC CS (COGNITIVE SYSTEMS)</a:t>
            </a:r>
          </a:p>
          <a:p>
            <a:pPr algn="l"/>
            <a:r>
              <a:rPr lang="en-US" sz="1500" dirty="0">
                <a:cs typeface="Times New Roman" panose="02020603050405020304" pitchFamily="18" charset="0"/>
              </a:rPr>
              <a:t>GUIDE:</a:t>
            </a:r>
          </a:p>
          <a:p>
            <a:pPr algn="l"/>
            <a:r>
              <a:rPr lang="en-IN" sz="1500" dirty="0">
                <a:solidFill>
                  <a:srgbClr val="222222"/>
                </a:solidFill>
              </a:rPr>
              <a:t>N. ARUNKUMAR</a:t>
            </a:r>
            <a:endParaRPr lang="en-IN" sz="1500" dirty="0">
              <a:cs typeface="Times New Roman" panose="02020603050405020304" pitchFamily="18" charset="0"/>
            </a:endParaRPr>
          </a:p>
          <a:p>
            <a:pPr algn="l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63723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offline signature verification, signature under test is checked for its genuineness by comparing it with its known genuine signature and classified as either genuine or forged.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Signature samples in the data sets were English scripts, shapes and different styles. In the datasets, there were both genuine and forged signature samples.</a:t>
            </a:r>
          </a:p>
          <a:p>
            <a:r>
              <a:rPr lang="en-US" sz="2000" dirty="0"/>
              <a:t>There are three main types of forgeries in automatic offline signature verification - Random forgery, Simple forgery and Skilled forgery.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/>
              <a:t>Skilled forgery, forged signatures are produced by a skilled forger after careful and rigorous practice of the signature</a:t>
            </a:r>
            <a:r>
              <a:rPr lang="en-US" sz="2500" dirty="0"/>
              <a:t>.</a:t>
            </a:r>
          </a:p>
          <a:p>
            <a:r>
              <a:rPr lang="en-US" sz="2000" dirty="0"/>
              <a:t>This project work aims in detecting skilled forgery.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38DAC-A6BB-4ED0-A470-51B7CC7BD534}" type="datetime5">
              <a:rPr lang="en-US" smtClean="0">
                <a:latin typeface="Times New Roman" pitchFamily="18" charset="0"/>
                <a:cs typeface="Times New Roman" pitchFamily="18" charset="0"/>
              </a:rPr>
              <a:t>27-Feb-24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Review - 1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9F384-DA6A-4C50-AB09-618569CD2DA8}" type="slidenum">
              <a:rPr lang="en-US" smtClean="0">
                <a:latin typeface="Times New Roman" pitchFamily="18" charset="0"/>
                <a:cs typeface="Times New Roman" pitchFamily="18" charset="0"/>
              </a:rPr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78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Signature verification is one of the most utilized pattern recognition tasks.   </a:t>
            </a:r>
          </a:p>
          <a:p>
            <a:r>
              <a:rPr lang="en-IN" sz="2000" dirty="0"/>
              <a:t>Even in todays age signature is the most important and most used form of proof of identity of a person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      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task is being done by humans till now.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Forensic experts involved in signature verification are given with special trainings on the verification process.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Offline signature verification approach can replace the existing manual verification method without disturbing its present mechanism.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67B8-7BF5-4F07-9367-6255474C0022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9F384-DA6A-4C50-AB09-618569CD2DA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318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>
                <a:latin typeface="Times New Roman" pitchFamily="18" charset="0"/>
                <a:cs typeface="Times New Roman" pitchFamily="18" charset="0"/>
              </a:rPr>
              <a:t>Scope of the Project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project aims in detecting the forged signature by comparing it with the original signature.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can replace the existing manual verification method without disturbing its present mechanism.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project will works where handwritten signature need to be authenticated without the need for real-time capture or online interaction.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27BC-868C-46D6-8925-65D23F13A29D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7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this system Feature Extraction can be done and classified by LBP ( Local Binary Patterns ) Algorithm.</a:t>
            </a:r>
          </a:p>
          <a:p>
            <a:r>
              <a:rPr lang="en-US" sz="2000" dirty="0"/>
              <a:t>Here, Feature Extraction we can process limited dataset (20 images) to classify and select the common pattern image.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27BC-868C-46D6-8925-65D23F13A29D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16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PROPOSED SYSTEM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Here, we have using CNNs ( Convolutional Neural Networks) Algorithm for Feature Extraction process.</a:t>
            </a:r>
          </a:p>
          <a:p>
            <a:r>
              <a:rPr lang="en-US" sz="2000" dirty="0"/>
              <a:t>We have Enhance the dataset (</a:t>
            </a:r>
            <a:r>
              <a:rPr lang="en-GB" sz="2000" dirty="0"/>
              <a:t>5</a:t>
            </a:r>
            <a:r>
              <a:rPr lang="en-US" sz="2000" dirty="0"/>
              <a:t>0+ Images) to classify and select the common pattern feature.</a:t>
            </a:r>
          </a:p>
          <a:p>
            <a:r>
              <a:rPr lang="en-US" sz="2000" dirty="0"/>
              <a:t>The best feature were selected by using Feature Selection Algorithms.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827BC-868C-46D6-8925-65D23F13A29D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7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/>
              <a:t>Hardware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Processor  : AMD </a:t>
            </a:r>
            <a:r>
              <a:rPr lang="en-US" sz="2000" dirty="0" err="1"/>
              <a:t>Ryzon</a:t>
            </a:r>
            <a:r>
              <a:rPr lang="en-US" sz="2000" dirty="0"/>
              <a:t> 5 Processor</a:t>
            </a:r>
          </a:p>
          <a:p>
            <a:r>
              <a:rPr lang="en-US" sz="2000" dirty="0"/>
              <a:t>OS             : Windows 10</a:t>
            </a:r>
          </a:p>
          <a:p>
            <a:r>
              <a:rPr lang="en-US" sz="2000" dirty="0"/>
              <a:t>RAM         : 4 GB or higher</a:t>
            </a:r>
          </a:p>
          <a:p>
            <a:r>
              <a:rPr lang="en-US" sz="2000" dirty="0"/>
              <a:t>HDD         : 256 GB or higher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818F-156B-4FC6-AD07-1E05DEABBB7E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0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/>
              <a:t>Software Specification</a:t>
            </a:r>
            <a:endParaRPr lang="en-US" sz="3000" cap="all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Language : MATLAB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Software  : MATLAB R2021a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MATLAB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Matrix Laboratory</a:t>
            </a:r>
          </a:p>
          <a:p>
            <a:r>
              <a:rPr lang="en-US" sz="2000" dirty="0"/>
              <a:t>MATLAB is a high-level language and interactive environment for Numerical Computation.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Math and Computation, Algorithm Development, Data Analysis,</a:t>
            </a:r>
            <a:r>
              <a:rPr lang="en-US" sz="2000" dirty="0"/>
              <a:t> Scientific and Engineering Graphics, Visualization, Image Processing, Application Development, including GUI building,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etc…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FA76-38CB-4A9D-A090-D6ED398FE250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9F384-DA6A-4C50-AB09-618569CD2DA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42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>
                <a:latin typeface="Times New Roman" pitchFamily="18" charset="0"/>
                <a:cs typeface="Times New Roman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1.Database Preparation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2.Pre-Processing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3.Feature Extraction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4.Verification Using Extracted Features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6CC6D-8353-444A-A052-1C5CDF1B3DE9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9F384-DA6A-4C50-AB09-618569CD2DA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396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/>
              <a:t>Modules Description</a:t>
            </a:r>
            <a:endParaRPr lang="en-US" sz="3000" cap="all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1.Database Preparation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must be a proper way of collecting the signature samples.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Genuine Signatures are collected from the genuine person.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Forged Signatures are collected from the forgers.</a:t>
            </a:r>
          </a:p>
          <a:p>
            <a:r>
              <a:rPr lang="en-US" sz="2000" dirty="0"/>
              <a:t>All the signatures were collected on white A4 sheet paper.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Scanning 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Lighting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Focus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Quality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1E56B-8E74-4D18-9546-6EA6F673322A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9F384-DA6A-4C50-AB09-618569CD2DA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29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/>
              <a:t>Modules Description</a:t>
            </a:r>
            <a:endParaRPr lang="en-US" sz="3000" cap="all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2. Pre-processing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Filtering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Cropping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Resizing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Rotation for Skew Correction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C8D30-D2E5-421B-ACFC-C2A8D8F8259A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9F384-DA6A-4C50-AB09-618569CD2DA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556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/>
              <a:t>Modules Description</a:t>
            </a:r>
            <a:endParaRPr lang="en-US" sz="3000" cap="all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3. Feature Extraction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Feature extraction is a process of deriving some characteristic parameters or functions from the patterns (signature images). The extracted characteristic parameters or functions are called ‘features‘.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Feature extraction can be done by using CNNs Algorithm. 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4. Verification Using Extracted Features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Feature selection is done to improve the classification accuracy by selecting the best features and removing the irrelevant features from the complete feature set.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Threshold Technique is used to verify the extracted features.</a:t>
            </a:r>
          </a:p>
          <a:p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39DC-2308-4D6F-A25B-44F9DA6116B5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9F384-DA6A-4C50-AB09-618569CD2DA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93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>
                <a:latin typeface="Times New Roman" pitchFamily="18" charset="0"/>
                <a:cs typeface="Times New Roman" pitchFamily="18" charset="0"/>
              </a:rPr>
              <a:t>FEATURE 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project aims in detecting the forged signature by comparing it with the original signature.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Making a machine learning neural network and training it to generate more accurate error threshold values that can improve the accuracy of the program.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Increasing the database we can have more data to train our algorithm which will also increase the accuracy of our program.</a:t>
            </a:r>
          </a:p>
          <a:p>
            <a:pPr marL="0" indent="0">
              <a:buNone/>
            </a:pPr>
            <a:endParaRPr lang="en-IN" sz="2000" dirty="0"/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5A4B6-2D20-4B59-8845-BE505D81AA2A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9F384-DA6A-4C50-AB09-618569CD2DA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76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/>
              <a:t>Block Diagram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478B9-138A-45DB-BA1C-E820DB6053A7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27743" y="2590800"/>
            <a:ext cx="1124857" cy="609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Signature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9886" y="2667000"/>
            <a:ext cx="1026886" cy="457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Scanner</a:t>
            </a:r>
          </a:p>
        </p:txBody>
      </p:sp>
      <p:cxnSp>
        <p:nvCxnSpPr>
          <p:cNvPr id="10" name="Straight Arrow Connector 9"/>
          <p:cNvCxnSpPr>
            <a:stCxn id="7" idx="3"/>
            <a:endCxn id="8" idx="1"/>
          </p:cNvCxnSpPr>
          <p:nvPr/>
        </p:nvCxnSpPr>
        <p:spPr>
          <a:xfrm>
            <a:off x="1752600" y="2895600"/>
            <a:ext cx="41728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0999" y="2365828"/>
            <a:ext cx="3000829" cy="136797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Data Acquisition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38600" y="2667000"/>
            <a:ext cx="2148113" cy="457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10400" y="2590800"/>
            <a:ext cx="1752600" cy="609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Extraction</a:t>
            </a:r>
          </a:p>
        </p:txBody>
      </p:sp>
      <p:cxnSp>
        <p:nvCxnSpPr>
          <p:cNvPr id="28" name="Straight Arrow Connector 27"/>
          <p:cNvCxnSpPr>
            <a:stCxn id="8" idx="3"/>
            <a:endCxn id="24" idx="1"/>
          </p:cNvCxnSpPr>
          <p:nvPr/>
        </p:nvCxnSpPr>
        <p:spPr>
          <a:xfrm>
            <a:off x="3196772" y="2895600"/>
            <a:ext cx="84182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4" idx="3"/>
            <a:endCxn id="26" idx="1"/>
          </p:cNvCxnSpPr>
          <p:nvPr/>
        </p:nvCxnSpPr>
        <p:spPr>
          <a:xfrm>
            <a:off x="6186713" y="2895600"/>
            <a:ext cx="8236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10400" y="3960586"/>
            <a:ext cx="1752600" cy="6749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Selection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4477" y="4107543"/>
            <a:ext cx="1679123" cy="381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Classification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5282" y="3960586"/>
            <a:ext cx="2195287" cy="67854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Performance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Evaluation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33800" y="5334000"/>
            <a:ext cx="1061354" cy="457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Genuine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99100" y="5334000"/>
            <a:ext cx="1092200" cy="457200"/>
          </a:xfrm>
          <a:prstGeom prst="roundRect">
            <a:avLst>
              <a:gd name="adj" fmla="val 1031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Forged</a:t>
            </a:r>
          </a:p>
        </p:txBody>
      </p:sp>
      <p:cxnSp>
        <p:nvCxnSpPr>
          <p:cNvPr id="38" name="Straight Arrow Connector 37"/>
          <p:cNvCxnSpPr>
            <a:stCxn id="26" idx="2"/>
            <a:endCxn id="32" idx="0"/>
          </p:cNvCxnSpPr>
          <p:nvPr/>
        </p:nvCxnSpPr>
        <p:spPr>
          <a:xfrm>
            <a:off x="7886700" y="3200400"/>
            <a:ext cx="0" cy="7601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2" idx="1"/>
            <a:endCxn id="33" idx="3"/>
          </p:cNvCxnSpPr>
          <p:nvPr/>
        </p:nvCxnSpPr>
        <p:spPr>
          <a:xfrm flipH="1">
            <a:off x="5943600" y="4298043"/>
            <a:ext cx="1066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3" idx="1"/>
            <a:endCxn id="34" idx="3"/>
          </p:cNvCxnSpPr>
          <p:nvPr/>
        </p:nvCxnSpPr>
        <p:spPr>
          <a:xfrm flipH="1">
            <a:off x="3120569" y="4298043"/>
            <a:ext cx="1143908" cy="18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3" idx="2"/>
            <a:endCxn id="35" idx="0"/>
          </p:cNvCxnSpPr>
          <p:nvPr/>
        </p:nvCxnSpPr>
        <p:spPr>
          <a:xfrm flipH="1">
            <a:off x="4264477" y="4488543"/>
            <a:ext cx="839562" cy="8454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3" idx="2"/>
            <a:endCxn id="36" idx="0"/>
          </p:cNvCxnSpPr>
          <p:nvPr/>
        </p:nvCxnSpPr>
        <p:spPr>
          <a:xfrm>
            <a:off x="5104039" y="4488543"/>
            <a:ext cx="941161" cy="8454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372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cap="all" dirty="0">
                <a:latin typeface="Times New Roman" pitchFamily="18" charset="0"/>
                <a:cs typeface="Times New Roman" pitchFamily="18" charset="0"/>
              </a:rP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Reference Books</a:t>
            </a:r>
          </a:p>
          <a:p>
            <a:pPr marL="0" indent="0">
              <a:buNone/>
            </a:pPr>
            <a:r>
              <a:rPr lang="en-US" sz="1900" dirty="0"/>
              <a:t>[1]"Handbook of Document Image Processing and Recognition" by David </a:t>
            </a:r>
            <a:r>
              <a:rPr lang="en-US" sz="1900" dirty="0" err="1"/>
              <a:t>Doermann</a:t>
            </a:r>
            <a:r>
              <a:rPr lang="en-US" sz="1900" dirty="0"/>
              <a:t> and Karl </a:t>
            </a:r>
            <a:r>
              <a:rPr lang="en-US" sz="1900" dirty="0" err="1"/>
              <a:t>Tombre</a:t>
            </a:r>
            <a:r>
              <a:rPr lang="en-US" sz="1900" dirty="0"/>
              <a:t> – Year 2014.</a:t>
            </a:r>
          </a:p>
          <a:p>
            <a:pPr marL="0" indent="0">
              <a:buNone/>
            </a:pPr>
            <a:r>
              <a:rPr lang="en-US" sz="1900" dirty="0"/>
              <a:t>[2]"Offline Handwritten Signature Verification: Literature Review and Directions for Research" by </a:t>
            </a:r>
            <a:r>
              <a:rPr lang="en-US" sz="1900" dirty="0" err="1"/>
              <a:t>Afzel</a:t>
            </a:r>
            <a:r>
              <a:rPr lang="en-US" sz="1900" dirty="0"/>
              <a:t> </a:t>
            </a:r>
            <a:r>
              <a:rPr lang="en-US" sz="1900" dirty="0" err="1"/>
              <a:t>Noore</a:t>
            </a:r>
            <a:r>
              <a:rPr lang="en-US" sz="1900" dirty="0"/>
              <a:t> – Year 2016.</a:t>
            </a:r>
          </a:p>
          <a:p>
            <a:pPr marL="0" indent="0">
              <a:buNone/>
            </a:pPr>
            <a:r>
              <a:rPr lang="en-US" sz="1900" dirty="0"/>
              <a:t>[3]"Handbook of Pattern Recognition and Computer Vision" edited by C.H. Chen – Year 2016.</a:t>
            </a:r>
          </a:p>
          <a:p>
            <a:pPr marL="0" indent="0">
              <a:buNone/>
            </a:pPr>
            <a:r>
              <a:rPr lang="en-US" sz="1900" dirty="0"/>
              <a:t>[4]"Handbook of Biometrics for Forensic Science" by Massimo </a:t>
            </a:r>
            <a:r>
              <a:rPr lang="en-US" sz="1900" dirty="0" err="1"/>
              <a:t>Tistarelli</a:t>
            </a:r>
            <a:r>
              <a:rPr lang="en-US" sz="1900" dirty="0"/>
              <a:t> and Christophe </a:t>
            </a:r>
            <a:r>
              <a:rPr lang="en-US" sz="1900" dirty="0" err="1"/>
              <a:t>Champod</a:t>
            </a:r>
            <a:r>
              <a:rPr lang="en-US" sz="1900" dirty="0"/>
              <a:t> – Year 2017.</a:t>
            </a:r>
          </a:p>
          <a:p>
            <a:pPr marL="0" indent="0">
              <a:buNone/>
            </a:pPr>
            <a:r>
              <a:rPr lang="en-US" sz="1900" dirty="0">
                <a:cs typeface="Times New Roman" pitchFamily="18" charset="0"/>
              </a:rPr>
              <a:t>[5]”Handwritten Signature Verification using Image Processing Techniques: A Deep Learning Approach” by Sanjay Kumar Malik and </a:t>
            </a:r>
            <a:r>
              <a:rPr lang="en-US" sz="1900" dirty="0" err="1">
                <a:cs typeface="Times New Roman" pitchFamily="18" charset="0"/>
              </a:rPr>
              <a:t>Shashikant</a:t>
            </a:r>
            <a:r>
              <a:rPr lang="en-US" sz="1900" dirty="0">
                <a:cs typeface="Times New Roman" pitchFamily="18" charset="0"/>
              </a:rPr>
              <a:t> </a:t>
            </a:r>
            <a:r>
              <a:rPr lang="en-US" sz="1900" dirty="0" err="1">
                <a:cs typeface="Times New Roman" pitchFamily="18" charset="0"/>
              </a:rPr>
              <a:t>Shekhar</a:t>
            </a:r>
            <a:r>
              <a:rPr lang="en-US" sz="1900" dirty="0">
                <a:cs typeface="Times New Roman" pitchFamily="18" charset="0"/>
              </a:rPr>
              <a:t> – Year 2021.</a:t>
            </a:r>
          </a:p>
          <a:p>
            <a:pPr marL="0" indent="0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Reference Websites</a:t>
            </a: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hlinkClick r:id="rId2"/>
              </a:rPr>
              <a:t>https://www.researchgate.net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  <a:hlinkClick r:id="rId3"/>
              </a:rPr>
              <a:t>https://chat.openai.com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6884-2E19-4E57-A8F1-C39F8E807788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59F384-DA6A-4C50-AB09-618569CD2DA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376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674C5-55F7-488C-837F-91C2C5F2DE17}" type="datetime5">
              <a:rPr lang="en-US" smtClean="0"/>
              <a:t>27-Feb-24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- 1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9F384-DA6A-4C50-AB09-618569CD2DA8}" type="slidenum">
              <a:rPr lang="en-US" smtClean="0"/>
              <a:t>16</a:t>
            </a:fld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334000" y="5181600"/>
            <a:ext cx="3313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9845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5132</TotalTime>
  <Words>892</Words>
  <Application>Microsoft Office PowerPoint</Application>
  <PresentationFormat>On-screen Show (4:3)</PresentationFormat>
  <Paragraphs>159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Flow</vt:lpstr>
      <vt:lpstr>Title : Offline Signature Verification</vt:lpstr>
      <vt:lpstr>Abstract</vt:lpstr>
      <vt:lpstr>Introduction</vt:lpstr>
      <vt:lpstr>Scope of the Project</vt:lpstr>
      <vt:lpstr>EXISTING SYSTEM</vt:lpstr>
      <vt:lpstr>PROPOSED SYSTEM </vt:lpstr>
      <vt:lpstr>Hardware Specification</vt:lpstr>
      <vt:lpstr>Software Specification</vt:lpstr>
      <vt:lpstr>Modules</vt:lpstr>
      <vt:lpstr>Modules Description</vt:lpstr>
      <vt:lpstr>Modules Description</vt:lpstr>
      <vt:lpstr>Modules Description</vt:lpstr>
      <vt:lpstr>FEATURE Scope of the Project</vt:lpstr>
      <vt:lpstr>Block Diagram </vt:lpstr>
      <vt:lpstr>Bibliography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: Offline Signature Verification</dc:title>
  <dc:creator>Lenovo</dc:creator>
  <cp:lastModifiedBy>Siva R</cp:lastModifiedBy>
  <cp:revision>62</cp:revision>
  <dcterms:created xsi:type="dcterms:W3CDTF">2023-12-21T13:22:25Z</dcterms:created>
  <dcterms:modified xsi:type="dcterms:W3CDTF">2024-02-27T06:23:20Z</dcterms:modified>
</cp:coreProperties>
</file>